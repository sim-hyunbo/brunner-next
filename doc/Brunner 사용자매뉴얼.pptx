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9" r:id="rId2"/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86" d="100"/>
          <a:sy n="86" d="100"/>
        </p:scale>
        <p:origin x="108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4" d="100"/>
          <a:sy n="74" d="100"/>
        </p:scale>
        <p:origin x="1752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42F33D-2F58-4029-91B1-CC684CCF502C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42BA71-DD76-4E91-8AE9-07500117BE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507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04DA84-8C90-4C83-9E2D-779B0CF9F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D2EC6B-78EE-44E6-ADD7-DA3DA51FCD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F3029C-F842-44C7-8F28-7F4690F60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ABCF-5849-4157-BDAD-2678852CDC22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195DE4-F233-4825-8628-E2F38AD96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AE78CC-33C3-4994-8A6D-E3F3B01A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41A3-F448-42D1-8B0C-8FFF012CD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147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6C8F3D-3C2A-468B-BAE9-276134BB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8CC3C4-DC69-4AC6-90F4-7A0D8DCD8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9920B6-DAC8-4C16-AC2E-34B2B04A8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ABCF-5849-4157-BDAD-2678852CDC22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8AB977-AE54-4232-B251-150579FE5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D85C64-6B2E-4B39-AB84-D8E72CB83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41A3-F448-42D1-8B0C-8FFF012CD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791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4D6AD1-E468-452A-BFF0-216A5B1E1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657F36-24DF-4530-9987-4000B7F10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0245C1-BC2F-46B1-83FD-C93EE2CC8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ABCF-5849-4157-BDAD-2678852CDC22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69990D-BC83-44CF-9E15-4EFE533A9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6345F3-42B0-4AB2-90FE-4D101C1DD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41A3-F448-42D1-8B0C-8FFF012CD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02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6DD1F9-E50F-411E-AA45-545B4534A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8A2E20-04E5-48CF-9A5A-617CA0330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632418-D9BC-4A43-91AA-347B68A2D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467206-4240-4483-AB9E-A022F90E2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ABCF-5849-4157-BDAD-2678852CDC22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B48DE3-6341-4B1A-9275-0F070F927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30048C-BA49-4CCB-BCAB-1CD9FB85A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41A3-F448-42D1-8B0C-8FFF012CD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0084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4A5C4D-98A8-4278-8BA9-377AD5AED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7348C1-38F5-4278-B2B0-839C909DC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88B40B-3624-44B6-88E7-4DAF35061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1AC2F92-766A-4923-8D74-5577C62438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03755ED-DA7F-4F41-A9AA-236C50658C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5686B31-0FB5-4B19-9991-6ACF3EB1B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ABCF-5849-4157-BDAD-2678852CDC22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A3FA0C6-376D-4628-8E56-7C816F19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3F2BEBC-CDC4-4E64-AF51-6CE1FE7C6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41A3-F448-42D1-8B0C-8FFF012CD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67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2CBD8B-8A9A-4676-8817-83C2D161B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FB4706-0473-4499-8431-A4EFAB3D4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ABCF-5849-4157-BDAD-2678852CDC22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2576BE1-3007-4675-BB33-62163DFFF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EB400F5-9C29-49DA-A9A0-EF0FD4B33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41A3-F448-42D1-8B0C-8FFF012CD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742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F39F394-BD1F-4C2A-8EB8-23137693D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ABCF-5849-4157-BDAD-2678852CDC22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8913750-D813-4263-8AC0-2E96F5F74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995761-0DE5-474A-8B13-6FD83B34B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41A3-F448-42D1-8B0C-8FFF012CD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301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CD3048-2C7F-4BED-B7F6-D32D31B80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0B99BD-A4A0-4916-9451-A36A0BB36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A92741-0F01-494F-B1EB-A67AF5532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52EBFD-A295-43B1-BA42-4B444BCC3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ABCF-5849-4157-BDAD-2678852CDC22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E954A6-2E81-49E0-83DF-B42637C98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30223C-E93F-4773-8907-4583291E1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41A3-F448-42D1-8B0C-8FFF012CD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547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E7ABE2-A6D3-4712-AB2C-7E1FF845D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F8849DF-1D08-409E-9069-BBB0FA3502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DD3E05-43DC-4595-A6FD-4DBA922DF2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0F69D6-3531-42AD-8681-B0088D456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ABCF-5849-4157-BDAD-2678852CDC22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0F0A8B-5E4F-4E1A-90B1-E74C43F87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6A75CC-B4F9-4849-9BA5-E1CF495E5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41A3-F448-42D1-8B0C-8FFF012CD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167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86E66-2EC3-4604-A81D-20ABF50B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2AD6B0F-2C47-4DFB-8FC7-E275B4CA5D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EBB5CC-CEC9-4059-AB81-202FD2112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ABCF-5849-4157-BDAD-2678852CDC22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3EBD68-3A04-45C9-B0C2-AE17E426D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241797-57E0-4760-A50A-7A429F5AF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41A3-F448-42D1-8B0C-8FFF012CD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051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35D6C0D-5FCC-47ED-84DC-FDD37C4657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0ECAD09-0C0A-4505-A951-CF7EFBBD71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0CC192-0A8E-4630-A46C-63113C969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CABCF-5849-4157-BDAD-2678852CDC22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689D8E-8575-4B4B-9D69-2C83F83A4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34ED71-86DD-4FB6-B0D4-B842AA3A0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241A3-F448-42D1-8B0C-8FFF012CD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538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40857A2-838C-4659-BAF5-2BC407E5D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25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30D8CA-3D5E-44AF-8D2F-7B342F9C9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46922"/>
            <a:ext cx="10515600" cy="5130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9F2204-CECA-498A-9B09-B5255A19E0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CABCF-5849-4157-BDAD-2678852CDC22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923B63-6BB8-46DC-88FC-7DC5B409F9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C2EE14-F1D7-4CE1-AFF0-74986626F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9241A3-F448-42D1-8B0C-8FFF012CDE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1150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brunner.co.kr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6D22C3-2D72-4748-B25D-0B0CEE49D9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altLang="ko-KR" dirty="0"/>
              <a:t>Brunner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FF4BFB9-1C64-42C5-B0DA-615975BCCE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사용자매뉴얼</a:t>
            </a:r>
          </a:p>
        </p:txBody>
      </p:sp>
    </p:spTree>
    <p:extLst>
      <p:ext uri="{BB962C8B-B14F-4D97-AF65-F5344CB8AC3E}">
        <p14:creationId xmlns:p14="http://schemas.microsoft.com/office/powerpoint/2010/main" val="997568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763880-15F7-4BAA-B17A-73B38C95B9B0}"/>
              </a:ext>
            </a:extLst>
          </p:cNvPr>
          <p:cNvSpPr txBox="1"/>
          <p:nvPr/>
        </p:nvSpPr>
        <p:spPr>
          <a:xfrm>
            <a:off x="570271" y="501445"/>
            <a:ext cx="2861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시스템 접속 </a:t>
            </a:r>
            <a:r>
              <a:rPr lang="en-US" altLang="ko-KR" dirty="0"/>
              <a:t>- </a:t>
            </a:r>
            <a:r>
              <a:rPr lang="ko-KR" altLang="en-US" dirty="0"/>
              <a:t>메인화면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71DF587-6887-45FA-8D58-ADAA476DB3E3}"/>
              </a:ext>
            </a:extLst>
          </p:cNvPr>
          <p:cNvSpPr/>
          <p:nvPr/>
        </p:nvSpPr>
        <p:spPr>
          <a:xfrm>
            <a:off x="7983795" y="1029984"/>
            <a:ext cx="405089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ea typeface="+mj-ea"/>
              </a:rPr>
              <a:t>1. </a:t>
            </a:r>
            <a:r>
              <a:rPr lang="ko-KR" altLang="en-US" sz="1000" dirty="0">
                <a:ea typeface="+mj-ea"/>
              </a:rPr>
              <a:t>인터넷 브라우저를 열고</a:t>
            </a:r>
            <a:endParaRPr lang="en-US" altLang="ko-KR" sz="1000" dirty="0">
              <a:ea typeface="+mj-ea"/>
            </a:endParaRPr>
          </a:p>
          <a:p>
            <a:r>
              <a:rPr lang="ko-KR" altLang="en-US" sz="1000" dirty="0">
                <a:ea typeface="+mj-ea"/>
                <a:hlinkClick r:id="rId2"/>
              </a:rPr>
              <a:t>https://www.brunner.co.kr/</a:t>
            </a:r>
            <a:r>
              <a:rPr lang="ko-KR" altLang="en-US" sz="1000" dirty="0">
                <a:ea typeface="+mj-ea"/>
              </a:rPr>
              <a:t>을 입력하여 서버에 접속한다</a:t>
            </a:r>
            <a:r>
              <a:rPr lang="en-US" altLang="ko-KR" sz="1000" dirty="0">
                <a:ea typeface="+mj-ea"/>
              </a:rPr>
              <a:t>.</a:t>
            </a:r>
          </a:p>
          <a:p>
            <a:endParaRPr lang="en-US" altLang="ko-KR" sz="1000" dirty="0">
              <a:ea typeface="+mj-ea"/>
            </a:endParaRPr>
          </a:p>
          <a:p>
            <a:r>
              <a:rPr lang="en-US" altLang="ko-KR" sz="1000" dirty="0">
                <a:ea typeface="+mj-ea"/>
              </a:rPr>
              <a:t>2. </a:t>
            </a:r>
            <a:r>
              <a:rPr lang="ko-KR" altLang="en-US" sz="1000" dirty="0">
                <a:ea typeface="+mj-ea"/>
              </a:rPr>
              <a:t>아래와 같이 시스템 메인 화면이 보인다</a:t>
            </a:r>
            <a:r>
              <a:rPr lang="en-US" altLang="ko-KR" sz="1000" dirty="0">
                <a:ea typeface="+mj-ea"/>
              </a:rPr>
              <a:t>.</a:t>
            </a:r>
          </a:p>
          <a:p>
            <a:endParaRPr lang="en-US" altLang="ko-KR" sz="1000" dirty="0"/>
          </a:p>
          <a:p>
            <a:r>
              <a:rPr lang="en-US" altLang="ko-KR" sz="1000" dirty="0"/>
              <a:t>3. </a:t>
            </a:r>
            <a:r>
              <a:rPr lang="ko-KR" altLang="en-US" sz="1000" dirty="0">
                <a:highlight>
                  <a:srgbClr val="FFFF00"/>
                </a:highlight>
              </a:rPr>
              <a:t>하단 </a:t>
            </a:r>
            <a:r>
              <a:rPr lang="en-US" altLang="ko-KR" sz="1000" dirty="0">
                <a:highlight>
                  <a:srgbClr val="FFFF00"/>
                </a:highlight>
              </a:rPr>
              <a:t>Sign Up </a:t>
            </a:r>
            <a:r>
              <a:rPr lang="ko-KR" altLang="en-US" sz="1000" dirty="0">
                <a:highlight>
                  <a:srgbClr val="FFFF00"/>
                </a:highlight>
              </a:rPr>
              <a:t>버튼을 클릭</a:t>
            </a:r>
            <a:r>
              <a:rPr lang="ko-KR" altLang="en-US" sz="1000" dirty="0"/>
              <a:t>하여 회원가입 화면으로 진입한다</a:t>
            </a:r>
            <a:r>
              <a:rPr lang="en-US" altLang="ko-KR" sz="10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4A06758-5BCF-4F5B-92BB-4077137D7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71" y="1029984"/>
            <a:ext cx="7285703" cy="366847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60CE548-7152-429F-A855-7D274F64210A}"/>
              </a:ext>
            </a:extLst>
          </p:cNvPr>
          <p:cNvSpPr/>
          <p:nvPr/>
        </p:nvSpPr>
        <p:spPr>
          <a:xfrm>
            <a:off x="1160210" y="3962399"/>
            <a:ext cx="609601" cy="27530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210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974CC2F6-9CB6-4B7B-A6CD-CA5351E70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06" y="968281"/>
            <a:ext cx="2279215" cy="57469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763880-15F7-4BAA-B17A-73B38C95B9B0}"/>
              </a:ext>
            </a:extLst>
          </p:cNvPr>
          <p:cNvSpPr txBox="1"/>
          <p:nvPr/>
        </p:nvSpPr>
        <p:spPr>
          <a:xfrm>
            <a:off x="570271" y="501445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회원가입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71DF587-6887-45FA-8D58-ADAA476DB3E3}"/>
              </a:ext>
            </a:extLst>
          </p:cNvPr>
          <p:cNvSpPr/>
          <p:nvPr/>
        </p:nvSpPr>
        <p:spPr>
          <a:xfrm>
            <a:off x="7983795" y="1029984"/>
            <a:ext cx="405089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ea typeface="+mj-ea"/>
              </a:rPr>
              <a:t>1. </a:t>
            </a:r>
            <a:r>
              <a:rPr lang="ko-KR" altLang="en-US" sz="1000" dirty="0">
                <a:ea typeface="+mj-ea"/>
              </a:rPr>
              <a:t>회원 기본 정보를 입력하고 </a:t>
            </a:r>
            <a:r>
              <a:rPr lang="en-US" altLang="ko-KR" sz="1000" dirty="0">
                <a:highlight>
                  <a:srgbClr val="FFFF00"/>
                </a:highlight>
                <a:ea typeface="+mj-ea"/>
              </a:rPr>
              <a:t>Sign</a:t>
            </a:r>
            <a:r>
              <a:rPr lang="ko-KR" altLang="en-US" sz="1000" dirty="0">
                <a:highlight>
                  <a:srgbClr val="FFFF00"/>
                </a:highlight>
                <a:ea typeface="+mj-ea"/>
              </a:rPr>
              <a:t> </a:t>
            </a:r>
            <a:r>
              <a:rPr lang="en-US" altLang="ko-KR" sz="1000" dirty="0">
                <a:highlight>
                  <a:srgbClr val="FFFF00"/>
                </a:highlight>
                <a:ea typeface="+mj-ea"/>
              </a:rPr>
              <a:t>Up</a:t>
            </a:r>
            <a:r>
              <a:rPr lang="ko-KR" altLang="en-US" sz="1000" dirty="0">
                <a:highlight>
                  <a:srgbClr val="FFFF00"/>
                </a:highlight>
                <a:ea typeface="+mj-ea"/>
              </a:rPr>
              <a:t> 버튼을 클릭하여 </a:t>
            </a:r>
            <a:r>
              <a:rPr lang="ko-KR" altLang="en-US" sz="1000" dirty="0">
                <a:ea typeface="+mj-ea"/>
              </a:rPr>
              <a:t>회원가입을 진행한다</a:t>
            </a:r>
            <a:r>
              <a:rPr lang="en-US" altLang="ko-KR" sz="1000" dirty="0">
                <a:ea typeface="+mj-ea"/>
              </a:rPr>
              <a:t>.</a:t>
            </a:r>
          </a:p>
          <a:p>
            <a:endParaRPr lang="en-US" altLang="ko-KR" sz="1000" dirty="0">
              <a:ea typeface="+mj-ea"/>
            </a:endParaRPr>
          </a:p>
          <a:p>
            <a:r>
              <a:rPr lang="en-US" altLang="ko-KR" sz="1000" dirty="0">
                <a:ea typeface="+mj-ea"/>
              </a:rPr>
              <a:t>System</a:t>
            </a:r>
            <a:r>
              <a:rPr lang="ko-KR" altLang="en-US" sz="1000" dirty="0">
                <a:ea typeface="+mj-ea"/>
              </a:rPr>
              <a:t> </a:t>
            </a:r>
            <a:r>
              <a:rPr lang="en-US" altLang="ko-KR" sz="1000" dirty="0">
                <a:ea typeface="+mj-ea"/>
              </a:rPr>
              <a:t>Code:</a:t>
            </a:r>
            <a:r>
              <a:rPr lang="ko-KR" altLang="en-US" sz="1000" dirty="0">
                <a:ea typeface="+mj-ea"/>
              </a:rPr>
              <a:t> 로그인 할 시스템을 선택한다</a:t>
            </a:r>
            <a:r>
              <a:rPr lang="en-US" altLang="ko-KR" sz="1000" dirty="0">
                <a:ea typeface="+mj-ea"/>
              </a:rPr>
              <a:t>. </a:t>
            </a:r>
            <a:r>
              <a:rPr lang="ko-KR" altLang="en-US" sz="1000" dirty="0">
                <a:ea typeface="+mj-ea"/>
              </a:rPr>
              <a:t>예</a:t>
            </a:r>
            <a:r>
              <a:rPr lang="en-US" altLang="ko-KR" sz="1000" dirty="0">
                <a:ea typeface="+mj-ea"/>
              </a:rPr>
              <a:t>&gt; Pharmacy</a:t>
            </a:r>
            <a:r>
              <a:rPr lang="ko-KR" altLang="en-US" sz="1000" dirty="0">
                <a:ea typeface="+mj-ea"/>
              </a:rPr>
              <a:t> </a:t>
            </a:r>
            <a:endParaRPr lang="en-US" altLang="ko-KR" sz="1000" dirty="0">
              <a:ea typeface="+mj-ea"/>
            </a:endParaRPr>
          </a:p>
          <a:p>
            <a:r>
              <a:rPr lang="en-US" altLang="ko-KR" sz="1000" dirty="0">
                <a:ea typeface="+mj-ea"/>
              </a:rPr>
              <a:t>User Type: </a:t>
            </a:r>
            <a:r>
              <a:rPr lang="ko-KR" altLang="en-US" sz="1000" dirty="0">
                <a:ea typeface="+mj-ea"/>
              </a:rPr>
              <a:t>사용자 유형을 선택한다</a:t>
            </a:r>
            <a:r>
              <a:rPr lang="en-US" altLang="ko-KR" sz="1000" dirty="0">
                <a:ea typeface="+mj-ea"/>
              </a:rPr>
              <a:t>. </a:t>
            </a:r>
            <a:r>
              <a:rPr lang="ko-KR" altLang="en-US" sz="1000" dirty="0">
                <a:ea typeface="+mj-ea"/>
              </a:rPr>
              <a:t>예</a:t>
            </a:r>
            <a:r>
              <a:rPr lang="en-US" altLang="ko-KR" sz="1000" dirty="0">
                <a:ea typeface="+mj-ea"/>
              </a:rPr>
              <a:t>&gt;Pharmacy</a:t>
            </a:r>
          </a:p>
          <a:p>
            <a:r>
              <a:rPr lang="en-US" altLang="ko-KR" sz="1000" dirty="0">
                <a:ea typeface="+mj-ea"/>
              </a:rPr>
              <a:t>ID: </a:t>
            </a:r>
            <a:r>
              <a:rPr lang="ko-KR" altLang="en-US" sz="1000" dirty="0">
                <a:ea typeface="+mj-ea"/>
              </a:rPr>
              <a:t>로그인에 사용할 사용자 </a:t>
            </a:r>
            <a:r>
              <a:rPr lang="en-US" altLang="ko-KR" sz="1000" dirty="0">
                <a:ea typeface="+mj-ea"/>
              </a:rPr>
              <a:t>ID</a:t>
            </a:r>
            <a:r>
              <a:rPr lang="ko-KR" altLang="en-US" sz="1000" dirty="0">
                <a:ea typeface="+mj-ea"/>
              </a:rPr>
              <a:t>를 입력한다</a:t>
            </a:r>
            <a:r>
              <a:rPr lang="en-US" altLang="ko-KR" sz="1000" dirty="0">
                <a:ea typeface="+mj-ea"/>
              </a:rPr>
              <a:t>.</a:t>
            </a:r>
          </a:p>
          <a:p>
            <a:r>
              <a:rPr lang="en-US" altLang="ko-KR" sz="1000" dirty="0">
                <a:ea typeface="+mj-ea"/>
              </a:rPr>
              <a:t>Password: </a:t>
            </a:r>
            <a:r>
              <a:rPr lang="ko-KR" altLang="en-US" sz="1000" dirty="0">
                <a:ea typeface="+mj-ea"/>
              </a:rPr>
              <a:t>로그인에 사용할 비밀번호를 입력한다</a:t>
            </a:r>
            <a:r>
              <a:rPr lang="en-US" altLang="ko-KR" sz="1000" dirty="0">
                <a:ea typeface="+mj-ea"/>
              </a:rPr>
              <a:t>.</a:t>
            </a:r>
          </a:p>
          <a:p>
            <a:r>
              <a:rPr lang="en-US" altLang="ko-KR" sz="1000" dirty="0">
                <a:ea typeface="+mj-ea"/>
              </a:rPr>
              <a:t>Name: </a:t>
            </a:r>
            <a:r>
              <a:rPr lang="ko-KR" altLang="en-US" sz="1000" dirty="0">
                <a:ea typeface="+mj-ea"/>
              </a:rPr>
              <a:t>사용자 이름을 입력한다</a:t>
            </a:r>
            <a:r>
              <a:rPr lang="en-US" altLang="ko-KR" sz="1000" dirty="0">
                <a:ea typeface="+mj-ea"/>
              </a:rPr>
              <a:t>.</a:t>
            </a:r>
          </a:p>
          <a:p>
            <a:r>
              <a:rPr lang="en-US" altLang="ko-KR" sz="1000" dirty="0">
                <a:ea typeface="+mj-ea"/>
              </a:rPr>
              <a:t>Phone Number: </a:t>
            </a:r>
            <a:r>
              <a:rPr lang="ko-KR" altLang="en-US" sz="1000" dirty="0">
                <a:ea typeface="+mj-ea"/>
              </a:rPr>
              <a:t>사용자 전화번호를 입력한다</a:t>
            </a:r>
            <a:r>
              <a:rPr lang="en-US" altLang="ko-KR" sz="1000" dirty="0">
                <a:ea typeface="+mj-ea"/>
              </a:rPr>
              <a:t>.</a:t>
            </a:r>
          </a:p>
          <a:p>
            <a:r>
              <a:rPr lang="en-US" altLang="ko-KR" sz="1000" dirty="0">
                <a:ea typeface="+mj-ea"/>
              </a:rPr>
              <a:t>E-Mail: </a:t>
            </a:r>
            <a:r>
              <a:rPr lang="ko-KR" altLang="en-US" sz="1000" dirty="0">
                <a:ea typeface="+mj-ea"/>
              </a:rPr>
              <a:t>사용자 메일 주소를 입력한다</a:t>
            </a:r>
            <a:r>
              <a:rPr lang="en-US" altLang="ko-KR" sz="1000" dirty="0">
                <a:ea typeface="+mj-ea"/>
              </a:rPr>
              <a:t>.</a:t>
            </a:r>
          </a:p>
          <a:p>
            <a:r>
              <a:rPr lang="en-US" altLang="ko-KR" sz="1000" dirty="0">
                <a:ea typeface="+mj-ea"/>
              </a:rPr>
              <a:t>Register No: </a:t>
            </a:r>
            <a:r>
              <a:rPr lang="ko-KR" altLang="en-US" sz="1000" dirty="0">
                <a:ea typeface="+mj-ea"/>
              </a:rPr>
              <a:t>사용자 등록번호를 입력한다</a:t>
            </a:r>
            <a:r>
              <a:rPr lang="en-US" altLang="ko-KR" sz="1000" dirty="0">
                <a:ea typeface="+mj-ea"/>
              </a:rPr>
              <a:t>. </a:t>
            </a:r>
            <a:r>
              <a:rPr lang="ko-KR" altLang="en-US" sz="1000" dirty="0">
                <a:ea typeface="+mj-ea"/>
              </a:rPr>
              <a:t>시스템코드를 </a:t>
            </a:r>
            <a:r>
              <a:rPr lang="en-US" altLang="ko-KR" sz="1000" dirty="0">
                <a:ea typeface="+mj-ea"/>
              </a:rPr>
              <a:t>Pharmacy</a:t>
            </a:r>
            <a:r>
              <a:rPr lang="ko-KR" altLang="en-US" sz="1000" dirty="0">
                <a:ea typeface="+mj-ea"/>
              </a:rPr>
              <a:t>로 선택한 경우는 약국 사용자인 경우이며 </a:t>
            </a:r>
            <a:r>
              <a:rPr lang="en-US" altLang="ko-KR" sz="1000" dirty="0">
                <a:ea typeface="+mj-ea"/>
              </a:rPr>
              <a:t>Search </a:t>
            </a:r>
            <a:r>
              <a:rPr lang="ko-KR" altLang="en-US" sz="1000" dirty="0">
                <a:ea typeface="+mj-ea"/>
              </a:rPr>
              <a:t>버튼을 클릭하여 </a:t>
            </a:r>
            <a:r>
              <a:rPr lang="ko-KR" altLang="en-US" sz="1000" dirty="0">
                <a:highlight>
                  <a:srgbClr val="FFFF00"/>
                </a:highlight>
                <a:ea typeface="+mj-ea"/>
              </a:rPr>
              <a:t>약국 사업장을 선택하면 등록번호와 주소정보는 자동 입력된다</a:t>
            </a:r>
            <a:r>
              <a:rPr lang="en-US" altLang="ko-KR" sz="1000" dirty="0">
                <a:ea typeface="+mj-ea"/>
              </a:rPr>
              <a:t>.</a:t>
            </a:r>
          </a:p>
          <a:p>
            <a:r>
              <a:rPr lang="en-US" altLang="ko-KR" sz="1000" dirty="0">
                <a:ea typeface="+mj-ea"/>
              </a:rPr>
              <a:t>Address: </a:t>
            </a:r>
            <a:r>
              <a:rPr lang="ko-KR" altLang="en-US" sz="1000" dirty="0">
                <a:ea typeface="+mj-ea"/>
              </a:rPr>
              <a:t>주소를 입력한다</a:t>
            </a:r>
            <a:r>
              <a:rPr lang="en-US" altLang="ko-KR" sz="1000" dirty="0">
                <a:ea typeface="+mj-ea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ADB1802-6A68-4989-B19F-BD36AF081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471" y="1589445"/>
            <a:ext cx="1276350" cy="1162050"/>
          </a:xfrm>
          <a:prstGeom prst="rect">
            <a:avLst/>
          </a:prstGeom>
        </p:spPr>
      </p:pic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7A330D62-F3CE-4E5F-A3ED-DB5578139431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1553497" y="2170470"/>
            <a:ext cx="2576974" cy="573113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43061071-B56F-4A37-8468-77944C086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0471" y="2841087"/>
            <a:ext cx="1343025" cy="1133475"/>
          </a:xfrm>
          <a:prstGeom prst="rect">
            <a:avLst/>
          </a:prstGeom>
        </p:spPr>
      </p:pic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F8B4200E-05D5-4509-92CA-6B997AD14FBC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553497" y="3063540"/>
            <a:ext cx="2576974" cy="344285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6120FE49-17EE-4D1D-8168-ECEEC9AD86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0471" y="4064154"/>
            <a:ext cx="3634862" cy="2372418"/>
          </a:xfrm>
          <a:prstGeom prst="rect">
            <a:avLst/>
          </a:prstGeom>
        </p:spPr>
      </p:pic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6C4107E3-8F08-4046-9621-3D8E92A075FF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554236" y="5250363"/>
            <a:ext cx="1576235" cy="70472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089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763880-15F7-4BAA-B17A-73B38C95B9B0}"/>
              </a:ext>
            </a:extLst>
          </p:cNvPr>
          <p:cNvSpPr txBox="1"/>
          <p:nvPr/>
        </p:nvSpPr>
        <p:spPr>
          <a:xfrm>
            <a:off x="570271" y="501445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시스템 로그인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71DF587-6887-45FA-8D58-ADAA476DB3E3}"/>
              </a:ext>
            </a:extLst>
          </p:cNvPr>
          <p:cNvSpPr/>
          <p:nvPr/>
        </p:nvSpPr>
        <p:spPr>
          <a:xfrm>
            <a:off x="7983795" y="1029984"/>
            <a:ext cx="405089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/>
              <a:t>1. </a:t>
            </a:r>
            <a:r>
              <a:rPr lang="ko-KR" altLang="en-US" sz="1000" dirty="0">
                <a:highlight>
                  <a:srgbClr val="FFFF00"/>
                </a:highlight>
              </a:rPr>
              <a:t>하단 </a:t>
            </a:r>
            <a:r>
              <a:rPr lang="en-US" altLang="ko-KR" sz="1000" dirty="0">
                <a:highlight>
                  <a:srgbClr val="FFFF00"/>
                </a:highlight>
              </a:rPr>
              <a:t>Sign In </a:t>
            </a:r>
            <a:r>
              <a:rPr lang="ko-KR" altLang="en-US" sz="1000" dirty="0">
                <a:highlight>
                  <a:srgbClr val="FFFF00"/>
                </a:highlight>
              </a:rPr>
              <a:t>버튼을 클릭</a:t>
            </a:r>
            <a:r>
              <a:rPr lang="ko-KR" altLang="en-US" sz="1000" dirty="0"/>
              <a:t>하여 시스템 로그인 화면으로 진입한다</a:t>
            </a:r>
            <a:r>
              <a:rPr lang="en-US" altLang="ko-KR" sz="10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4A06758-5BCF-4F5B-92BB-4077137D7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71" y="1029984"/>
            <a:ext cx="7285703" cy="366847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EE97A59-F64E-4C6F-95B4-5F7005FE509B}"/>
              </a:ext>
            </a:extLst>
          </p:cNvPr>
          <p:cNvSpPr/>
          <p:nvPr/>
        </p:nvSpPr>
        <p:spPr>
          <a:xfrm>
            <a:off x="580104" y="3962399"/>
            <a:ext cx="609601" cy="27530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0303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763880-15F7-4BAA-B17A-73B38C95B9B0}"/>
              </a:ext>
            </a:extLst>
          </p:cNvPr>
          <p:cNvSpPr txBox="1"/>
          <p:nvPr/>
        </p:nvSpPr>
        <p:spPr>
          <a:xfrm>
            <a:off x="570271" y="501445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시스템 로그인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71DF587-6887-45FA-8D58-ADAA476DB3E3}"/>
              </a:ext>
            </a:extLst>
          </p:cNvPr>
          <p:cNvSpPr/>
          <p:nvPr/>
        </p:nvSpPr>
        <p:spPr>
          <a:xfrm>
            <a:off x="7983795" y="1029984"/>
            <a:ext cx="405089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000" dirty="0"/>
              <a:t>시스템 코드를 선택한다</a:t>
            </a:r>
            <a:r>
              <a:rPr lang="en-US" altLang="ko-KR" sz="1000" dirty="0"/>
              <a:t>. </a:t>
            </a:r>
            <a:r>
              <a:rPr lang="ko-KR" altLang="en-US" sz="1000" dirty="0"/>
              <a:t>예</a:t>
            </a:r>
            <a:r>
              <a:rPr lang="en-US" altLang="ko-KR" sz="1000" dirty="0"/>
              <a:t>&gt;Pharmacy</a:t>
            </a:r>
          </a:p>
          <a:p>
            <a:pPr marL="228600" indent="-228600">
              <a:buAutoNum type="arabicPeriod"/>
            </a:pPr>
            <a:r>
              <a:rPr lang="ko-KR" altLang="en-US" sz="1000" dirty="0"/>
              <a:t>회원가입시 입력했던 로그인</a:t>
            </a:r>
            <a:r>
              <a:rPr lang="en-US" altLang="ko-KR" sz="1000" dirty="0"/>
              <a:t>ID</a:t>
            </a:r>
            <a:r>
              <a:rPr lang="ko-KR" altLang="en-US" sz="1000" dirty="0"/>
              <a:t>를 입력한다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sz="1000" dirty="0"/>
              <a:t>회원가입시 입력했던 비밀번호를 입력한다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r>
              <a:rPr lang="en-US" altLang="ko-KR" sz="1000" dirty="0">
                <a:highlight>
                  <a:srgbClr val="FFFF00"/>
                </a:highlight>
              </a:rPr>
              <a:t>Sign In </a:t>
            </a:r>
            <a:r>
              <a:rPr lang="ko-KR" altLang="en-US" sz="1000" dirty="0">
                <a:highlight>
                  <a:srgbClr val="FFFF00"/>
                </a:highlight>
              </a:rPr>
              <a:t>버튼을 클릭</a:t>
            </a:r>
            <a:r>
              <a:rPr lang="ko-KR" altLang="en-US" sz="1000" dirty="0"/>
              <a:t>하면 시스템에 로그인 한다</a:t>
            </a:r>
            <a:r>
              <a:rPr lang="en-US" altLang="ko-KR" sz="1000" dirty="0"/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5EABECD-70DE-4BA8-9C93-56743A091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71" y="1029984"/>
            <a:ext cx="2086083" cy="509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951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763880-15F7-4BAA-B17A-73B38C95B9B0}"/>
              </a:ext>
            </a:extLst>
          </p:cNvPr>
          <p:cNvSpPr txBox="1"/>
          <p:nvPr/>
        </p:nvSpPr>
        <p:spPr>
          <a:xfrm>
            <a:off x="570271" y="501445"/>
            <a:ext cx="340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비밀번호 초기화 </a:t>
            </a:r>
            <a:r>
              <a:rPr lang="en-US" altLang="ko-KR" dirty="0"/>
              <a:t>/ </a:t>
            </a:r>
            <a:r>
              <a:rPr lang="ko-KR" altLang="en-US" dirty="0"/>
              <a:t>계정 삭제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71DF587-6887-45FA-8D58-ADAA476DB3E3}"/>
              </a:ext>
            </a:extLst>
          </p:cNvPr>
          <p:cNvSpPr/>
          <p:nvPr/>
        </p:nvSpPr>
        <p:spPr>
          <a:xfrm>
            <a:off x="7983795" y="1029984"/>
            <a:ext cx="405089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000" dirty="0">
                <a:highlight>
                  <a:srgbClr val="FFFF00"/>
                </a:highlight>
              </a:rPr>
              <a:t>Reset</a:t>
            </a:r>
            <a:r>
              <a:rPr lang="ko-KR" altLang="en-US" sz="1000" dirty="0">
                <a:highlight>
                  <a:srgbClr val="FFFF00"/>
                </a:highlight>
              </a:rPr>
              <a:t> </a:t>
            </a:r>
            <a:r>
              <a:rPr lang="en-US" altLang="ko-KR" sz="1000" dirty="0">
                <a:highlight>
                  <a:srgbClr val="FFFF00"/>
                </a:highlight>
              </a:rPr>
              <a:t>password </a:t>
            </a:r>
            <a:r>
              <a:rPr lang="ko-KR" altLang="en-US" sz="1000" dirty="0">
                <a:highlight>
                  <a:srgbClr val="FFFF00"/>
                </a:highlight>
              </a:rPr>
              <a:t>버튼을 클릭</a:t>
            </a:r>
            <a:r>
              <a:rPr lang="ko-KR" altLang="en-US" sz="1000" dirty="0"/>
              <a:t>하여 비밀번호 초기화 </a:t>
            </a:r>
            <a:r>
              <a:rPr lang="en-US" altLang="ko-KR" sz="1000" dirty="0"/>
              <a:t>/ </a:t>
            </a:r>
            <a:r>
              <a:rPr lang="ko-KR" altLang="en-US" sz="1000" dirty="0"/>
              <a:t>계정삭제 화면으로 진입한다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r>
              <a:rPr lang="en-US" altLang="ko-KR" sz="1000" dirty="0">
                <a:highlight>
                  <a:srgbClr val="FFFF00"/>
                </a:highlight>
              </a:rPr>
              <a:t>Leave &amp; Delete Account </a:t>
            </a:r>
            <a:r>
              <a:rPr lang="ko-KR" altLang="en-US" sz="1000" dirty="0">
                <a:highlight>
                  <a:srgbClr val="FFFF00"/>
                </a:highlight>
              </a:rPr>
              <a:t>버튼을 클릭</a:t>
            </a:r>
            <a:r>
              <a:rPr lang="ko-KR" altLang="en-US" sz="1000" dirty="0"/>
              <a:t>하여 비밀번호 초기화 </a:t>
            </a:r>
            <a:r>
              <a:rPr lang="en-US" altLang="ko-KR" sz="1000" dirty="0"/>
              <a:t>/ </a:t>
            </a:r>
            <a:r>
              <a:rPr lang="ko-KR" altLang="en-US" sz="1000" dirty="0"/>
              <a:t>계정삭제 화면으로 진입한다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sz="1000" dirty="0"/>
              <a:t>비밀번호 초기화 또는 계정삭제는 동일한 화면에서 진행한다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endParaRPr lang="en-US" altLang="ko-KR" sz="1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5EABECD-70DE-4BA8-9C93-56743A091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71" y="1029984"/>
            <a:ext cx="2086083" cy="509551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CCFF009-769F-4503-91E8-A97DA36D3292}"/>
              </a:ext>
            </a:extLst>
          </p:cNvPr>
          <p:cNvSpPr/>
          <p:nvPr/>
        </p:nvSpPr>
        <p:spPr>
          <a:xfrm>
            <a:off x="570271" y="4955457"/>
            <a:ext cx="1170039" cy="3441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028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BFEE5A0B-093A-4CA0-BED1-CD3562051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71" y="965405"/>
            <a:ext cx="3457575" cy="53911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763880-15F7-4BAA-B17A-73B38C95B9B0}"/>
              </a:ext>
            </a:extLst>
          </p:cNvPr>
          <p:cNvSpPr txBox="1"/>
          <p:nvPr/>
        </p:nvSpPr>
        <p:spPr>
          <a:xfrm>
            <a:off x="570271" y="501445"/>
            <a:ext cx="340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비밀번호 초기화 </a:t>
            </a:r>
            <a:r>
              <a:rPr lang="en-US" altLang="ko-KR" dirty="0"/>
              <a:t>/ </a:t>
            </a:r>
            <a:r>
              <a:rPr lang="ko-KR" altLang="en-US" dirty="0"/>
              <a:t>계정 삭제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71DF587-6887-45FA-8D58-ADAA476DB3E3}"/>
              </a:ext>
            </a:extLst>
          </p:cNvPr>
          <p:cNvSpPr/>
          <p:nvPr/>
        </p:nvSpPr>
        <p:spPr>
          <a:xfrm>
            <a:off x="7983795" y="1029984"/>
            <a:ext cx="405089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000" dirty="0"/>
              <a:t>시스템코드를 선택한다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sz="1000" dirty="0"/>
              <a:t>로그인</a:t>
            </a:r>
            <a:r>
              <a:rPr lang="en-US" altLang="ko-KR" sz="1000" dirty="0"/>
              <a:t>ID</a:t>
            </a:r>
            <a:r>
              <a:rPr lang="ko-KR" altLang="en-US" sz="1000" dirty="0"/>
              <a:t>를 입력한다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sz="1000" dirty="0"/>
              <a:t>전화번호를 입력한다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sz="1000" dirty="0"/>
              <a:t>이메일주소를 입력한다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r>
              <a:rPr lang="en-US" altLang="ko-KR" sz="1000" dirty="0"/>
              <a:t>Send Code </a:t>
            </a:r>
            <a:r>
              <a:rPr lang="ko-KR" altLang="en-US" sz="1000" dirty="0"/>
              <a:t>버튼을 클릭하여 입력한 메일주소로 인증코드를 전송한다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sz="1000" dirty="0"/>
              <a:t>입력한 정보가 모두 일치하면 아래와 같이 메일전송 메시지가 표시된다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r>
              <a:rPr lang="en-US" altLang="ko-KR" sz="1000" dirty="0"/>
              <a:t>Authorization Code</a:t>
            </a:r>
            <a:r>
              <a:rPr lang="ko-KR" altLang="en-US" sz="1000" dirty="0"/>
              <a:t>란에 메일로 받은 인증코드를 입력한다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sz="1000" dirty="0"/>
              <a:t>인증코드가 맞으면 신규 비밀번호를 </a:t>
            </a:r>
            <a:r>
              <a:rPr lang="en-US" altLang="ko-KR" sz="1000" dirty="0"/>
              <a:t>New Password</a:t>
            </a:r>
            <a:r>
              <a:rPr lang="ko-KR" altLang="en-US" sz="1000" dirty="0"/>
              <a:t>에 입력하고 동일한 비밀번호를 </a:t>
            </a:r>
            <a:r>
              <a:rPr lang="en-US" altLang="ko-KR" sz="1000" dirty="0"/>
              <a:t>Confirm Password</a:t>
            </a:r>
            <a:r>
              <a:rPr lang="ko-KR" altLang="en-US" sz="1000" dirty="0"/>
              <a:t>에 다시 입력한다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sz="1000" dirty="0"/>
              <a:t>모든 입력한 정보가 일치하면 </a:t>
            </a:r>
            <a:r>
              <a:rPr lang="en-US" altLang="ko-KR" sz="1000" dirty="0"/>
              <a:t>Reset Password</a:t>
            </a:r>
            <a:r>
              <a:rPr lang="ko-KR" altLang="en-US" sz="1000" dirty="0"/>
              <a:t>를 클릭하여 비밀번호를 변경한다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sz="1000" dirty="0"/>
              <a:t>로그인 화면으로 자동 전환되고 신규 비밀번호로 다시 로그인 진행한다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endParaRPr lang="en-US" altLang="ko-KR" sz="1000" dirty="0"/>
          </a:p>
          <a:p>
            <a:pPr marL="228600" indent="-228600">
              <a:buAutoNum type="arabicPeriod"/>
            </a:pPr>
            <a:r>
              <a:rPr lang="en-US" altLang="ko-KR" sz="1000" dirty="0"/>
              <a:t>8</a:t>
            </a:r>
            <a:r>
              <a:rPr lang="ko-KR" altLang="en-US" sz="1000" dirty="0"/>
              <a:t>번에서 인증코드가 맞으면 </a:t>
            </a:r>
            <a:r>
              <a:rPr lang="en-US" altLang="ko-KR" sz="1000" dirty="0">
                <a:highlight>
                  <a:srgbClr val="FFFF00"/>
                </a:highlight>
              </a:rPr>
              <a:t>Delete account </a:t>
            </a:r>
            <a:r>
              <a:rPr lang="ko-KR" altLang="en-US" sz="1000" dirty="0">
                <a:highlight>
                  <a:srgbClr val="FFFF00"/>
                </a:highlight>
              </a:rPr>
              <a:t>버튼을 클릭</a:t>
            </a:r>
            <a:r>
              <a:rPr lang="ko-KR" altLang="en-US" sz="1000" dirty="0"/>
              <a:t>하여 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계정 삭제</a:t>
            </a:r>
            <a:r>
              <a:rPr lang="ko-KR" altLang="en-US" sz="1000" dirty="0"/>
              <a:t>를 진행한다</a:t>
            </a:r>
            <a:r>
              <a:rPr lang="en-US" altLang="ko-KR" sz="1000" dirty="0"/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EAD6B08-F0E6-4CC0-AFE0-8F9833F5D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536" y="3888197"/>
            <a:ext cx="4332287" cy="1086926"/>
          </a:xfrm>
          <a:prstGeom prst="rect">
            <a:avLst/>
          </a:prstGeom>
        </p:spPr>
      </p:pic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9885E2EB-E830-4415-AB8B-8971558B5147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1470991" y="4094922"/>
            <a:ext cx="2714545" cy="336738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761BC57-8DD7-4AC0-A4C9-F1C3C83A4CB1}"/>
              </a:ext>
            </a:extLst>
          </p:cNvPr>
          <p:cNvSpPr/>
          <p:nvPr/>
        </p:nvSpPr>
        <p:spPr>
          <a:xfrm>
            <a:off x="570271" y="4704646"/>
            <a:ext cx="1086251" cy="3367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801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763880-15F7-4BAA-B17A-73B38C95B9B0}"/>
              </a:ext>
            </a:extLst>
          </p:cNvPr>
          <p:cNvSpPr txBox="1"/>
          <p:nvPr/>
        </p:nvSpPr>
        <p:spPr>
          <a:xfrm>
            <a:off x="570271" y="501445"/>
            <a:ext cx="3310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5. </a:t>
            </a:r>
            <a:r>
              <a:rPr lang="ko-KR" altLang="en-US" dirty="0"/>
              <a:t>시스템 로그인 후 메인 화면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71DF587-6887-45FA-8D58-ADAA476DB3E3}"/>
              </a:ext>
            </a:extLst>
          </p:cNvPr>
          <p:cNvSpPr/>
          <p:nvPr/>
        </p:nvSpPr>
        <p:spPr>
          <a:xfrm>
            <a:off x="7983795" y="1029984"/>
            <a:ext cx="40508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/>
              <a:t>1. </a:t>
            </a:r>
            <a:r>
              <a:rPr lang="ko-KR" altLang="en-US" sz="1000" dirty="0"/>
              <a:t>하단</a:t>
            </a:r>
            <a:r>
              <a:rPr lang="en-US" altLang="ko-KR" sz="1000" dirty="0"/>
              <a:t>Sign In / Sign Up </a:t>
            </a:r>
            <a:r>
              <a:rPr lang="ko-KR" altLang="en-US" sz="1000" dirty="0"/>
              <a:t>버튼은 사라지고 </a:t>
            </a:r>
            <a:r>
              <a:rPr lang="ko-KR" altLang="en-US" sz="1000" dirty="0">
                <a:highlight>
                  <a:srgbClr val="FFFF00"/>
                </a:highlight>
              </a:rPr>
              <a:t>시스템 관리자가 등록한 문서들이 </a:t>
            </a:r>
            <a:r>
              <a:rPr lang="en-US" altLang="ko-KR" sz="1000" dirty="0">
                <a:highlight>
                  <a:srgbClr val="FFFF00"/>
                </a:highlight>
              </a:rPr>
              <a:t>Random</a:t>
            </a:r>
            <a:r>
              <a:rPr lang="ko-KR" altLang="en-US" sz="1000" dirty="0">
                <a:highlight>
                  <a:srgbClr val="FFFF00"/>
                </a:highlight>
              </a:rPr>
              <a:t>으로 표시</a:t>
            </a:r>
            <a:r>
              <a:rPr lang="ko-KR" altLang="en-US" sz="1000" dirty="0"/>
              <a:t>된다</a:t>
            </a:r>
            <a:r>
              <a:rPr lang="en-US" altLang="ko-KR" sz="1000" dirty="0"/>
              <a:t>.</a:t>
            </a:r>
            <a:r>
              <a:rPr lang="en-US" altLang="ko-KR" sz="1000" dirty="0">
                <a:highlight>
                  <a:srgbClr val="FFFF00"/>
                </a:highlight>
              </a:rPr>
              <a:t> </a:t>
            </a:r>
            <a:endParaRPr lang="en-US" altLang="ko-KR" sz="1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1A12229-DCAA-47CD-9CC0-F9A51CAC0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71" y="985826"/>
            <a:ext cx="7413524" cy="239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004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763880-15F7-4BAA-B17A-73B38C95B9B0}"/>
              </a:ext>
            </a:extLst>
          </p:cNvPr>
          <p:cNvSpPr txBox="1"/>
          <p:nvPr/>
        </p:nvSpPr>
        <p:spPr>
          <a:xfrm>
            <a:off x="570271" y="501445"/>
            <a:ext cx="2536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6. </a:t>
            </a:r>
            <a:r>
              <a:rPr lang="ko-KR" altLang="en-US" dirty="0"/>
              <a:t>시스템 별 문서 표시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71DF587-6887-45FA-8D58-ADAA476DB3E3}"/>
              </a:ext>
            </a:extLst>
          </p:cNvPr>
          <p:cNvSpPr/>
          <p:nvPr/>
        </p:nvSpPr>
        <p:spPr>
          <a:xfrm>
            <a:off x="7983795" y="1029984"/>
            <a:ext cx="405089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000" dirty="0"/>
              <a:t>하단</a:t>
            </a:r>
            <a:r>
              <a:rPr lang="en-US" altLang="ko-KR" sz="1000" dirty="0"/>
              <a:t>Sign In / Sign Up </a:t>
            </a:r>
            <a:r>
              <a:rPr lang="ko-KR" altLang="en-US" sz="1000" dirty="0"/>
              <a:t>버튼은 사라지고 로그인 한 </a:t>
            </a:r>
            <a:r>
              <a:rPr lang="ko-KR" altLang="en-US" sz="1000" dirty="0">
                <a:highlight>
                  <a:srgbClr val="FFFF00"/>
                </a:highlight>
              </a:rPr>
              <a:t>시스템의 관리자가 등록한 전자 문서들이 임의로 표시</a:t>
            </a:r>
            <a:r>
              <a:rPr lang="ko-KR" altLang="en-US" sz="1000" dirty="0"/>
              <a:t>된다</a:t>
            </a:r>
            <a:r>
              <a:rPr lang="en-US" altLang="ko-KR" sz="1000" dirty="0"/>
              <a:t>. </a:t>
            </a:r>
            <a:r>
              <a:rPr lang="ko-KR" altLang="en-US" sz="1000" dirty="0"/>
              <a:t>표시되는 문서는 화면을 새로 고침 할 때마다 바뀐다</a:t>
            </a:r>
            <a:r>
              <a:rPr lang="en-US" altLang="ko-KR" sz="1000" dirty="0"/>
              <a:t>.</a:t>
            </a:r>
            <a:r>
              <a:rPr lang="en-US" altLang="ko-KR" sz="1000" dirty="0">
                <a:highlight>
                  <a:srgbClr val="FFFF00"/>
                </a:highlight>
              </a:rPr>
              <a:t> </a:t>
            </a:r>
          </a:p>
          <a:p>
            <a:pPr marL="228600" indent="-228600">
              <a:buAutoNum type="arabicPeriod"/>
            </a:pPr>
            <a:r>
              <a:rPr lang="ko-KR" altLang="en-US" sz="1000" dirty="0"/>
              <a:t>시스템에 관리자가 등록하는 전자 문서는 주로 현재 로그인한 시스템 사용에 대한 가이드나 공지사항 또는 업무적인 지식들이다</a:t>
            </a:r>
            <a:r>
              <a:rPr lang="en-US" altLang="ko-KR" sz="1000" dirty="0"/>
              <a:t>. </a:t>
            </a:r>
          </a:p>
          <a:p>
            <a:pPr marL="228600" indent="-228600">
              <a:buAutoNum type="arabicPeriod"/>
            </a:pPr>
            <a:r>
              <a:rPr lang="ko-KR" altLang="en-US" sz="1000" dirty="0"/>
              <a:t>좌측에 표시한 예시 문서는 </a:t>
            </a:r>
            <a:r>
              <a:rPr lang="en-US" altLang="ko-KR" sz="1000" dirty="0"/>
              <a:t>Pharmacy </a:t>
            </a:r>
            <a:r>
              <a:rPr lang="ko-KR" altLang="en-US" sz="1000" dirty="0"/>
              <a:t>시스템으로 로그인 시 표시된 </a:t>
            </a:r>
            <a:r>
              <a:rPr lang="ko-KR" altLang="en-US" sz="1000" dirty="0">
                <a:highlight>
                  <a:srgbClr val="FFFF00"/>
                </a:highlight>
              </a:rPr>
              <a:t>약국에서의 재고관리 방법에 관한 문서</a:t>
            </a:r>
            <a:r>
              <a:rPr lang="ko-KR" altLang="en-US" sz="1000" dirty="0"/>
              <a:t>이다</a:t>
            </a:r>
            <a:r>
              <a:rPr lang="en-US" altLang="ko-KR" sz="1000" dirty="0"/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0ACABE5-F1AB-4756-A119-D9BAF64CF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71" y="974229"/>
            <a:ext cx="7413524" cy="394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91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763880-15F7-4BAA-B17A-73B38C95B9B0}"/>
              </a:ext>
            </a:extLst>
          </p:cNvPr>
          <p:cNvSpPr txBox="1"/>
          <p:nvPr/>
        </p:nvSpPr>
        <p:spPr>
          <a:xfrm>
            <a:off x="570271" y="501445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메뉴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71DF587-6887-45FA-8D58-ADAA476DB3E3}"/>
              </a:ext>
            </a:extLst>
          </p:cNvPr>
          <p:cNvSpPr/>
          <p:nvPr/>
        </p:nvSpPr>
        <p:spPr>
          <a:xfrm>
            <a:off x="7983795" y="1029984"/>
            <a:ext cx="405089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000" dirty="0">
                <a:highlight>
                  <a:srgbClr val="FFFF00"/>
                </a:highlight>
              </a:rPr>
              <a:t>화면 우측상단에 햄버거 메뉴</a:t>
            </a:r>
            <a:r>
              <a:rPr lang="ko-KR" altLang="en-US" sz="1000" dirty="0"/>
              <a:t>를 클릭하여 </a:t>
            </a:r>
            <a:r>
              <a:rPr lang="ko-KR" altLang="en-US" sz="1000" dirty="0" err="1"/>
              <a:t>드롭다운한다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r>
              <a:rPr lang="en-US" altLang="ko-KR" sz="1000" dirty="0"/>
              <a:t>[</a:t>
            </a:r>
            <a:r>
              <a:rPr lang="ko-KR" altLang="en-US" sz="1000" dirty="0"/>
              <a:t>시스템명</a:t>
            </a:r>
            <a:r>
              <a:rPr lang="en-US" altLang="ko-KR" sz="1000" dirty="0"/>
              <a:t>] Home: </a:t>
            </a:r>
            <a:r>
              <a:rPr lang="ko-KR" altLang="en-US" sz="1000" dirty="0"/>
              <a:t>시스템 메인 화면으로 이동한다</a:t>
            </a:r>
            <a:r>
              <a:rPr lang="en-US" altLang="ko-KR" sz="1000" dirty="0"/>
              <a:t>. </a:t>
            </a:r>
            <a:r>
              <a:rPr lang="ko-KR" altLang="en-US" sz="1000" dirty="0"/>
              <a:t>현재 로그인 한 시스템 이름으로 표시된다</a:t>
            </a:r>
            <a:r>
              <a:rPr lang="en-US" altLang="ko-KR" sz="1000" dirty="0"/>
              <a:t>. </a:t>
            </a:r>
          </a:p>
          <a:p>
            <a:pPr marL="228600" indent="-228600">
              <a:buAutoNum type="arabicPeriod"/>
            </a:pPr>
            <a:r>
              <a:rPr lang="en-US" altLang="ko-KR" sz="1000" dirty="0"/>
              <a:t> Contact : </a:t>
            </a:r>
            <a:r>
              <a:rPr lang="ko-KR" altLang="en-US" sz="1000" dirty="0"/>
              <a:t>시스템 관리자에게 문의사항이 있거나 연락할 때 사용한다</a:t>
            </a:r>
            <a:r>
              <a:rPr lang="en-US" altLang="ko-KR" sz="1000" dirty="0"/>
              <a:t>. </a:t>
            </a:r>
            <a:r>
              <a:rPr lang="ko-KR" altLang="en-US" sz="1000" dirty="0"/>
              <a:t>관리자에게 전화 또는 메일로 연락 가능하다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endParaRPr lang="en-US" altLang="ko-KR" sz="1000" dirty="0"/>
          </a:p>
          <a:p>
            <a:pPr marL="228600" indent="-228600">
              <a:buAutoNum type="arabicPeriod"/>
            </a:pPr>
            <a:r>
              <a:rPr lang="ko-KR" altLang="en-US" sz="1000" dirty="0"/>
              <a:t>약국 재고 관리 </a:t>
            </a:r>
            <a:r>
              <a:rPr lang="en-US" altLang="ko-KR" sz="1000" dirty="0"/>
              <a:t>: </a:t>
            </a:r>
            <a:r>
              <a:rPr lang="ko-KR" altLang="en-US" sz="1000" dirty="0"/>
              <a:t>약국시스템의 관리자가 공용문서로 등록한 문서가 메뉴에 표시되어 별도 화면으로 이동할 수 있는 메뉴이다</a:t>
            </a:r>
            <a:r>
              <a:rPr lang="en-US" altLang="ko-KR" sz="1000" dirty="0"/>
              <a:t>. </a:t>
            </a:r>
            <a:r>
              <a:rPr lang="ko-KR" altLang="en-US" sz="1000" dirty="0"/>
              <a:t>표시된 메뉴의 텍스트는 해당 문서의 제목이다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sz="1000" dirty="0"/>
              <a:t>현재사용자명</a:t>
            </a:r>
            <a:r>
              <a:rPr lang="en-US" altLang="ko-KR" sz="1000" dirty="0"/>
              <a:t>’s pages : </a:t>
            </a:r>
            <a:r>
              <a:rPr lang="ko-KR" altLang="en-US" sz="1000" dirty="0"/>
              <a:t>현재 사용자가 공용문서로 등록한 문서가 메뉴에 표시되어 별도 화면으로 이동할 수 있는 메뉴이다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r>
              <a:rPr lang="en-US" altLang="ko-KR" sz="1000" dirty="0"/>
              <a:t>Daily Order : </a:t>
            </a:r>
            <a:r>
              <a:rPr lang="ko-KR" altLang="en-US" sz="1000" dirty="0">
                <a:highlight>
                  <a:srgbClr val="FFFF00"/>
                </a:highlight>
              </a:rPr>
              <a:t>약국에서 재고관리 및 자동주문을 진행</a:t>
            </a:r>
            <a:r>
              <a:rPr lang="ko-KR" altLang="en-US" sz="1000" dirty="0"/>
              <a:t>하는 화면이다</a:t>
            </a:r>
            <a:r>
              <a:rPr lang="en-US" altLang="ko-KR" sz="1000" dirty="0"/>
              <a:t>. </a:t>
            </a:r>
            <a:r>
              <a:rPr lang="ko-KR" altLang="en-US" sz="1000" dirty="0"/>
              <a:t>약국 시스템의 주기능 화면이다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r>
              <a:rPr lang="en-US" altLang="ko-KR" sz="1000" dirty="0"/>
              <a:t>Supplier Setting : </a:t>
            </a:r>
            <a:r>
              <a:rPr lang="ko-KR" altLang="en-US" sz="1000" dirty="0"/>
              <a:t>현재 로그인한 약국에서 거래하는 거래처 정보를 등록한다</a:t>
            </a:r>
            <a:r>
              <a:rPr lang="en-US" altLang="ko-KR" sz="1000" dirty="0"/>
              <a:t>. </a:t>
            </a:r>
            <a:r>
              <a:rPr lang="ko-KR" altLang="en-US" sz="1000" dirty="0"/>
              <a:t>여기서 </a:t>
            </a:r>
            <a:r>
              <a:rPr lang="ko-KR" altLang="en-US" sz="1000" dirty="0">
                <a:highlight>
                  <a:srgbClr val="FFFF00"/>
                </a:highlight>
              </a:rPr>
              <a:t>등록한 거래처에 대해서만 자동주문</a:t>
            </a:r>
            <a:r>
              <a:rPr lang="ko-KR" altLang="en-US" sz="1000" dirty="0"/>
              <a:t> 기능을 제공한다</a:t>
            </a:r>
            <a:r>
              <a:rPr lang="en-US" altLang="ko-KR" sz="10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5D09EAC-2CFE-4603-A9FA-055F831A1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71" y="1029984"/>
            <a:ext cx="186690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756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763880-15F7-4BAA-B17A-73B38C95B9B0}"/>
              </a:ext>
            </a:extLst>
          </p:cNvPr>
          <p:cNvSpPr txBox="1"/>
          <p:nvPr/>
        </p:nvSpPr>
        <p:spPr>
          <a:xfrm>
            <a:off x="570271" y="501445"/>
            <a:ext cx="3139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8. </a:t>
            </a:r>
            <a:r>
              <a:rPr lang="ko-KR" altLang="en-US" dirty="0"/>
              <a:t>공급자 </a:t>
            </a:r>
            <a:r>
              <a:rPr lang="en-US" altLang="ko-KR" dirty="0"/>
              <a:t>(</a:t>
            </a:r>
            <a:r>
              <a:rPr lang="ko-KR" altLang="en-US" dirty="0"/>
              <a:t>약국 거래처</a:t>
            </a:r>
            <a:r>
              <a:rPr lang="en-US" altLang="ko-KR" dirty="0"/>
              <a:t>)</a:t>
            </a:r>
            <a:r>
              <a:rPr lang="ko-KR" altLang="en-US" dirty="0"/>
              <a:t> 설정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71DF587-6887-45FA-8D58-ADAA476DB3E3}"/>
              </a:ext>
            </a:extLst>
          </p:cNvPr>
          <p:cNvSpPr/>
          <p:nvPr/>
        </p:nvSpPr>
        <p:spPr>
          <a:xfrm>
            <a:off x="7983795" y="1029984"/>
            <a:ext cx="405089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000" dirty="0"/>
              <a:t>약국이 거래하는 공급자 거래처 정보를 설정한다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sz="1000" dirty="0"/>
              <a:t>공급자의 이름과 주문페이지의 연결정보를 </a:t>
            </a:r>
            <a:r>
              <a:rPr lang="en-US" altLang="ko-KR" sz="1000" dirty="0"/>
              <a:t>JSON </a:t>
            </a:r>
            <a:r>
              <a:rPr lang="ko-KR" altLang="en-US" sz="1000" dirty="0"/>
              <a:t>형식의 데이터로 등록한다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sz="1000" dirty="0"/>
              <a:t>공급자마다 고유의 주문페이지를 제공하므로 사이트의 </a:t>
            </a:r>
            <a:r>
              <a:rPr lang="en-US" altLang="ko-KR" sz="1000" dirty="0"/>
              <a:t>URL</a:t>
            </a:r>
            <a:r>
              <a:rPr lang="ko-KR" altLang="en-US" sz="1000" dirty="0"/>
              <a:t>과 로그인정보를 등록하고 사용여부를 체크한다</a:t>
            </a:r>
            <a:r>
              <a:rPr lang="en-US" altLang="ko-KR" sz="1000" dirty="0"/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8B22D08-49D3-4C2F-B117-8EBDC37AB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71" y="1029984"/>
            <a:ext cx="7216068" cy="53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840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763880-15F7-4BAA-B17A-73B38C95B9B0}"/>
              </a:ext>
            </a:extLst>
          </p:cNvPr>
          <p:cNvSpPr txBox="1"/>
          <p:nvPr/>
        </p:nvSpPr>
        <p:spPr>
          <a:xfrm>
            <a:off x="570271" y="501445"/>
            <a:ext cx="486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9. </a:t>
            </a:r>
            <a:r>
              <a:rPr lang="ko-KR" altLang="en-US" dirty="0"/>
              <a:t>일별 재고 등록 및 주문 진행 </a:t>
            </a:r>
            <a:r>
              <a:rPr lang="en-US" altLang="ko-KR" dirty="0"/>
              <a:t>– Daily Order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71DF587-6887-45FA-8D58-ADAA476DB3E3}"/>
              </a:ext>
            </a:extLst>
          </p:cNvPr>
          <p:cNvSpPr/>
          <p:nvPr/>
        </p:nvSpPr>
        <p:spPr>
          <a:xfrm>
            <a:off x="7983795" y="1029984"/>
            <a:ext cx="405089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000" dirty="0"/>
              <a:t>Upload Daily Order : </a:t>
            </a:r>
            <a:r>
              <a:rPr lang="ko-KR" altLang="en-US" sz="1000" dirty="0"/>
              <a:t>일별 재고는 엑셀 파일로 업로드해서 진행한다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sz="1000" dirty="0"/>
              <a:t>일별 판매량을 반영해서 매일 품목별 재고를 관리한다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sz="1000" dirty="0"/>
              <a:t>업로드시에 파일에 포함된 금일재고와 안전재고 수량을 비교해서 자동주문 처리한다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sz="1000" dirty="0"/>
              <a:t>좌측 이미지는 아직 파일을 업로드하기 전 화면이다</a:t>
            </a:r>
            <a:r>
              <a:rPr lang="en-US" altLang="ko-KR" sz="1000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894577D-FC9B-4776-A4AD-9BD431BB1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71" y="1029984"/>
            <a:ext cx="6328109" cy="538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593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763880-15F7-4BAA-B17A-73B38C95B9B0}"/>
              </a:ext>
            </a:extLst>
          </p:cNvPr>
          <p:cNvSpPr txBox="1"/>
          <p:nvPr/>
        </p:nvSpPr>
        <p:spPr>
          <a:xfrm>
            <a:off x="570271" y="501445"/>
            <a:ext cx="4995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10. </a:t>
            </a:r>
            <a:r>
              <a:rPr lang="ko-KR" altLang="en-US" dirty="0"/>
              <a:t>일별 재고 등록 및 주문 진행 </a:t>
            </a:r>
            <a:r>
              <a:rPr lang="en-US" altLang="ko-KR" dirty="0"/>
              <a:t>– Daily Order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71DF587-6887-45FA-8D58-ADAA476DB3E3}"/>
              </a:ext>
            </a:extLst>
          </p:cNvPr>
          <p:cNvSpPr/>
          <p:nvPr/>
        </p:nvSpPr>
        <p:spPr>
          <a:xfrm>
            <a:off x="7983795" y="1029984"/>
            <a:ext cx="4050890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000" dirty="0"/>
              <a:t>좌측 이미지는 파일을 업로드한 화면이다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sz="1000" dirty="0"/>
              <a:t>현재 재고수량</a:t>
            </a:r>
            <a:r>
              <a:rPr lang="en-US" altLang="ko-KR" sz="1000" dirty="0"/>
              <a:t>(Inventory</a:t>
            </a:r>
            <a:r>
              <a:rPr lang="ko-KR" altLang="en-US" sz="1000" dirty="0"/>
              <a:t> </a:t>
            </a:r>
            <a:r>
              <a:rPr lang="en-US" altLang="ko-KR" sz="1000" dirty="0"/>
              <a:t>Qty)</a:t>
            </a:r>
            <a:r>
              <a:rPr lang="ko-KR" altLang="en-US" sz="1000" dirty="0"/>
              <a:t> 및 안전재고 수량 </a:t>
            </a:r>
            <a:r>
              <a:rPr lang="en-US" altLang="ko-KR" sz="1000" dirty="0"/>
              <a:t>(Safe</a:t>
            </a:r>
            <a:r>
              <a:rPr lang="ko-KR" altLang="en-US" sz="1000" dirty="0"/>
              <a:t> </a:t>
            </a:r>
            <a:r>
              <a:rPr lang="en-US" altLang="ko-KR" sz="1000" dirty="0"/>
              <a:t>Inventory</a:t>
            </a:r>
            <a:r>
              <a:rPr lang="ko-KR" altLang="en-US" sz="1000" dirty="0"/>
              <a:t> </a:t>
            </a:r>
            <a:r>
              <a:rPr lang="en-US" altLang="ko-KR" sz="1000" dirty="0"/>
              <a:t>Qty) </a:t>
            </a:r>
            <a:r>
              <a:rPr lang="ko-KR" altLang="en-US" sz="1000" dirty="0"/>
              <a:t>이 표시되고 필요한 경우 화면에서 직접 수정할 수 있다</a:t>
            </a:r>
            <a:r>
              <a:rPr lang="en-US" altLang="ko-KR" sz="1000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sz="1000" dirty="0"/>
              <a:t>우측 상단의 </a:t>
            </a:r>
            <a:r>
              <a:rPr lang="en-US" altLang="ko-KR" sz="1000" dirty="0"/>
              <a:t>Order </a:t>
            </a:r>
            <a:r>
              <a:rPr lang="ko-KR" altLang="en-US" sz="1000" dirty="0"/>
              <a:t>버튼은 업로드 한 모든 약품을 </a:t>
            </a:r>
            <a:r>
              <a:rPr lang="ko-KR" altLang="en-US" sz="1000" dirty="0">
                <a:highlight>
                  <a:srgbClr val="FFFF00"/>
                </a:highlight>
              </a:rPr>
              <a:t>일괄 주문</a:t>
            </a:r>
            <a:r>
              <a:rPr lang="ko-KR" altLang="en-US" sz="1000" dirty="0"/>
              <a:t>한다</a:t>
            </a:r>
            <a:r>
              <a:rPr lang="en-US" altLang="ko-KR" sz="1000" dirty="0"/>
              <a:t>.</a:t>
            </a:r>
            <a:r>
              <a:rPr lang="ko-KR" altLang="en-US" sz="1000" dirty="0"/>
              <a:t> </a:t>
            </a:r>
            <a:endParaRPr lang="en-US" altLang="ko-KR" sz="1000" dirty="0"/>
          </a:p>
          <a:p>
            <a:pPr marL="228600" indent="-228600">
              <a:buAutoNum type="arabicPeriod"/>
            </a:pPr>
            <a:endParaRPr lang="en-US" altLang="ko-KR" sz="1000" dirty="0"/>
          </a:p>
          <a:p>
            <a:pPr marL="228600" indent="-228600">
              <a:buAutoNum type="arabicPeriod"/>
            </a:pPr>
            <a:r>
              <a:rPr lang="ko-KR" altLang="en-US" sz="1000" dirty="0" err="1"/>
              <a:t>열목록</a:t>
            </a:r>
            <a:r>
              <a:rPr lang="ko-KR" altLang="en-US" sz="1000" dirty="0"/>
              <a:t> 설명</a:t>
            </a:r>
            <a:endParaRPr lang="en-US" altLang="ko-KR" sz="1000" dirty="0"/>
          </a:p>
          <a:p>
            <a:pPr marL="685800" lvl="1" indent="-228600">
              <a:buAutoNum type="arabicPeriod"/>
            </a:pPr>
            <a:r>
              <a:rPr lang="en-US" altLang="ko-KR" sz="1000" dirty="0"/>
              <a:t>No : </a:t>
            </a:r>
            <a:r>
              <a:rPr lang="ko-KR" altLang="en-US" sz="1000" dirty="0" err="1"/>
              <a:t>행번호</a:t>
            </a:r>
            <a:endParaRPr lang="en-US" altLang="ko-KR" sz="1000" dirty="0"/>
          </a:p>
          <a:p>
            <a:pPr marL="685800" lvl="1" indent="-228600">
              <a:buAutoNum type="arabicPeriod"/>
            </a:pPr>
            <a:r>
              <a:rPr lang="en-US" altLang="ko-KR" sz="1000" dirty="0"/>
              <a:t>Order Date : </a:t>
            </a:r>
            <a:r>
              <a:rPr lang="ko-KR" altLang="en-US" sz="1000" dirty="0"/>
              <a:t>업로드한 날짜 시간 </a:t>
            </a:r>
            <a:r>
              <a:rPr lang="en-US" altLang="ko-KR" sz="1000" dirty="0"/>
              <a:t>: YYYYMMDDHH</a:t>
            </a:r>
          </a:p>
          <a:p>
            <a:pPr marL="685800" lvl="1" indent="-228600">
              <a:buAutoNum type="arabicPeriod"/>
            </a:pPr>
            <a:r>
              <a:rPr lang="en-US" altLang="ko-KR" sz="1000" dirty="0"/>
              <a:t>Product Code: </a:t>
            </a:r>
            <a:r>
              <a:rPr lang="ko-KR" altLang="en-US" sz="1000" dirty="0"/>
              <a:t>제품코드</a:t>
            </a:r>
            <a:endParaRPr lang="en-US" altLang="ko-KR" sz="1000" dirty="0"/>
          </a:p>
          <a:p>
            <a:pPr marL="685800" lvl="1" indent="-228600">
              <a:buAutoNum type="arabicPeriod"/>
            </a:pPr>
            <a:r>
              <a:rPr lang="en-US" altLang="ko-KR" sz="1000" dirty="0"/>
              <a:t>Product Name; </a:t>
            </a:r>
            <a:r>
              <a:rPr lang="ko-KR" altLang="en-US" sz="1000" dirty="0"/>
              <a:t>제품명</a:t>
            </a:r>
            <a:endParaRPr lang="en-US" altLang="ko-KR" sz="1000" dirty="0"/>
          </a:p>
          <a:p>
            <a:pPr marL="685800" lvl="1" indent="-228600">
              <a:buAutoNum type="arabicPeriod"/>
            </a:pPr>
            <a:r>
              <a:rPr lang="en-US" altLang="ko-KR" sz="1000" dirty="0"/>
              <a:t>Supplier</a:t>
            </a:r>
            <a:r>
              <a:rPr lang="ko-KR" altLang="en-US" sz="1000" dirty="0"/>
              <a:t> </a:t>
            </a:r>
            <a:r>
              <a:rPr lang="en-US" altLang="ko-KR" sz="1000" dirty="0"/>
              <a:t>Name:</a:t>
            </a:r>
            <a:r>
              <a:rPr lang="ko-KR" altLang="en-US" sz="1000" dirty="0"/>
              <a:t> 구매 진행할 거래처명</a:t>
            </a:r>
            <a:endParaRPr lang="en-US" altLang="ko-KR" sz="1000" dirty="0"/>
          </a:p>
          <a:p>
            <a:pPr marL="685800" lvl="1" indent="-228600">
              <a:buAutoNum type="arabicPeriod"/>
            </a:pPr>
            <a:r>
              <a:rPr lang="en-US" altLang="ko-KR" sz="1000" dirty="0"/>
              <a:t>Inventory Qty: </a:t>
            </a:r>
            <a:r>
              <a:rPr lang="ko-KR" altLang="en-US" sz="1000" dirty="0"/>
              <a:t>현 재고량</a:t>
            </a:r>
            <a:endParaRPr lang="en-US" altLang="ko-KR" sz="1000" dirty="0"/>
          </a:p>
          <a:p>
            <a:pPr marL="685800" lvl="1" indent="-228600">
              <a:buAutoNum type="arabicPeriod"/>
            </a:pPr>
            <a:r>
              <a:rPr lang="en-US" altLang="ko-KR" sz="1000" dirty="0"/>
              <a:t>Safe</a:t>
            </a:r>
            <a:r>
              <a:rPr lang="ko-KR" altLang="en-US" sz="1000" dirty="0"/>
              <a:t> </a:t>
            </a:r>
            <a:r>
              <a:rPr lang="en-US" altLang="ko-KR" sz="1000" dirty="0"/>
              <a:t>Inventory</a:t>
            </a:r>
            <a:r>
              <a:rPr lang="ko-KR" altLang="en-US" sz="1000" dirty="0"/>
              <a:t> </a:t>
            </a:r>
            <a:r>
              <a:rPr lang="en-US" altLang="ko-KR" sz="1000" dirty="0"/>
              <a:t>Qty:</a:t>
            </a:r>
            <a:r>
              <a:rPr lang="ko-KR" altLang="en-US" sz="1000" dirty="0"/>
              <a:t> 안전재고 수량</a:t>
            </a:r>
            <a:endParaRPr lang="en-US" altLang="ko-KR" sz="1000" dirty="0"/>
          </a:p>
          <a:p>
            <a:pPr marL="685800" lvl="1" indent="-228600">
              <a:buAutoNum type="arabicPeriod"/>
            </a:pPr>
            <a:r>
              <a:rPr lang="en-US" altLang="ko-KR" sz="1000" dirty="0"/>
              <a:t>Order Result: </a:t>
            </a:r>
            <a:r>
              <a:rPr lang="ko-KR" altLang="en-US" sz="1000" dirty="0"/>
              <a:t>자동주문 실행결과</a:t>
            </a:r>
            <a:endParaRPr lang="en-US" altLang="ko-KR" sz="1000" dirty="0"/>
          </a:p>
          <a:p>
            <a:pPr marL="685800" lvl="1" indent="-228600">
              <a:buAutoNum type="arabicPeriod"/>
            </a:pPr>
            <a:r>
              <a:rPr lang="en-US" altLang="ko-KR" sz="1000" dirty="0"/>
              <a:t>Action : </a:t>
            </a:r>
            <a:r>
              <a:rPr lang="ko-KR" altLang="en-US" sz="1000" dirty="0"/>
              <a:t>행 내용수정 버튼 및 </a:t>
            </a:r>
            <a:r>
              <a:rPr lang="ko-KR" altLang="en-US" sz="1000" dirty="0">
                <a:highlight>
                  <a:srgbClr val="FFFF00"/>
                </a:highlight>
              </a:rPr>
              <a:t>개별주문</a:t>
            </a:r>
            <a:r>
              <a:rPr lang="ko-KR" altLang="en-US" sz="1000" dirty="0"/>
              <a:t> 실행 버튼</a:t>
            </a:r>
            <a:endParaRPr lang="en-US" altLang="ko-KR" sz="1000" dirty="0"/>
          </a:p>
          <a:p>
            <a:pPr marL="228600" indent="-228600">
              <a:buAutoNum type="arabicPeriod"/>
            </a:pPr>
            <a:r>
              <a:rPr lang="ko-KR" altLang="en-US" sz="1000" dirty="0"/>
              <a:t>내용이 모두 확인되면 일괄주문 처리하고 </a:t>
            </a:r>
            <a:endParaRPr lang="en-US" altLang="ko-KR" sz="1000" dirty="0"/>
          </a:p>
          <a:p>
            <a:pPr marL="228600" indent="-228600">
              <a:buAutoNum type="arabicPeriod"/>
            </a:pPr>
            <a:r>
              <a:rPr lang="ko-KR" altLang="en-US" sz="1000" dirty="0"/>
              <a:t>한 개씩 재고량 및 주문 내역을 보면서 개별 주문하고 결과도 확인한다</a:t>
            </a:r>
            <a:r>
              <a:rPr lang="en-US" altLang="ko-KR" sz="1000" dirty="0"/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FC085BA-D4B9-482C-A3CE-037120242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72" y="1029984"/>
            <a:ext cx="6373400" cy="553808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8D10129-C10E-4E63-BDC2-F9503C9F9651}"/>
              </a:ext>
            </a:extLst>
          </p:cNvPr>
          <p:cNvSpPr/>
          <p:nvPr/>
        </p:nvSpPr>
        <p:spPr>
          <a:xfrm>
            <a:off x="6356195" y="4482790"/>
            <a:ext cx="278781" cy="2453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0899172-045B-4820-9B80-D83B9B1714E7}"/>
              </a:ext>
            </a:extLst>
          </p:cNvPr>
          <p:cNvSpPr/>
          <p:nvPr/>
        </p:nvSpPr>
        <p:spPr>
          <a:xfrm>
            <a:off x="6408236" y="3954972"/>
            <a:ext cx="468530" cy="2453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928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청록색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752</Words>
  <Application>Microsoft Office PowerPoint</Application>
  <PresentationFormat>와이드스크린</PresentationFormat>
  <Paragraphs>85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Brunner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심현보 책임 스마트팩토리솔루션팀 (hbsim0605@lgcns.com, 02-2099-1942)</dc:creator>
  <cp:lastModifiedBy>심현보 책임 스마트팩토리솔루션팀 (hbsim0605@lgcns.com, 02-2099-1942)</cp:lastModifiedBy>
  <cp:revision>40</cp:revision>
  <dcterms:created xsi:type="dcterms:W3CDTF">2025-12-05T07:20:30Z</dcterms:created>
  <dcterms:modified xsi:type="dcterms:W3CDTF">2025-12-05T12:21:10Z</dcterms:modified>
</cp:coreProperties>
</file>